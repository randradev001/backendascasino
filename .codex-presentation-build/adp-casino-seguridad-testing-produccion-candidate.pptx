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ce5b34e8444aeb" /><Relationship Type="http://schemas.openxmlformats.org/officeDocument/2006/relationships/extended-properties" Target="/docProps/app.xml" Id="R5ade9c79dcad45d1" /><Relationship Type="http://schemas.openxmlformats.org/officeDocument/2006/relationships/officeDocument" Target="/ppt/presentation.xml" Id="Ra58cf841d098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b59f5fd8274c8b"/>
  </p:sldMasterIdLst>
  <p:notesMasterIdLst>
    <p:notesMasterId xmlns:r="http://schemas.openxmlformats.org/officeDocument/2006/relationships" r:id="Rb8c7b41befd7426b"/>
  </p:notesMasterIdLst>
  <p:sldIdLst>
    <p:sldId xmlns:r="http://schemas.openxmlformats.org/officeDocument/2006/relationships" id="256" r:id="Ra687be21d0ad4dfe"/>
    <p:sldId xmlns:r="http://schemas.openxmlformats.org/officeDocument/2006/relationships" id="257" r:id="R4dccba8fc679485d"/>
    <p:sldId xmlns:r="http://schemas.openxmlformats.org/officeDocument/2006/relationships" id="258" r:id="Rb393cf3e4d6a41c9"/>
    <p:sldId xmlns:r="http://schemas.openxmlformats.org/officeDocument/2006/relationships" id="259" r:id="R3dd5c57bba55468d"/>
    <p:sldId xmlns:r="http://schemas.openxmlformats.org/officeDocument/2006/relationships" id="260" r:id="Ref413d6a76aa4783"/>
    <p:sldId xmlns:r="http://schemas.openxmlformats.org/officeDocument/2006/relationships" id="261" r:id="Rd8b6ce4a0cf44948"/>
    <p:sldId xmlns:r="http://schemas.openxmlformats.org/officeDocument/2006/relationships" id="262" r:id="Rab9795a147a641b1"/>
    <p:sldId xmlns:r="http://schemas.openxmlformats.org/officeDocument/2006/relationships" id="263" r:id="Rff755f4e54fa4492"/>
    <p:sldId xmlns:r="http://schemas.openxmlformats.org/officeDocument/2006/relationships" id="264" r:id="Rfe602c294b534b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b342fc59e34f57" /><Relationship Type="http://schemas.openxmlformats.org/officeDocument/2006/relationships/slideMaster" Target="/ppt/slideMasters/slideMaster1.xml" Id="R38b59f5fd8274c8b" /><Relationship Type="http://schemas.openxmlformats.org/officeDocument/2006/relationships/notesMaster" Target="/ppt/notesMasters/notesMaster1.xml" Id="Rb8c7b41befd7426b" /><Relationship Type="http://schemas.openxmlformats.org/officeDocument/2006/relationships/presProps" Target="/ppt/presProps.xml" Id="Rcbad59ffcd4b4c63" /><Relationship Type="http://schemas.openxmlformats.org/officeDocument/2006/relationships/tableStyles" Target="/ppt/tableStyles.xml" Id="Rf76d792f663f4689" /><Relationship Type="http://schemas.openxmlformats.org/officeDocument/2006/relationships/slide" Target="/ppt/slides/slide1.xml" Id="Ra687be21d0ad4dfe" /><Relationship Type="http://schemas.openxmlformats.org/officeDocument/2006/relationships/slide" Target="/ppt/slides/slide2.xml" Id="R4dccba8fc679485d" /><Relationship Type="http://schemas.openxmlformats.org/officeDocument/2006/relationships/slide" Target="/ppt/slides/slide3.xml" Id="Rb393cf3e4d6a41c9" /><Relationship Type="http://schemas.openxmlformats.org/officeDocument/2006/relationships/slide" Target="/ppt/slides/slide4.xml" Id="R3dd5c57bba55468d" /><Relationship Type="http://schemas.openxmlformats.org/officeDocument/2006/relationships/slide" Target="/ppt/slides/slide5.xml" Id="Ref413d6a76aa4783" /><Relationship Type="http://schemas.openxmlformats.org/officeDocument/2006/relationships/slide" Target="/ppt/slides/slide6.xml" Id="Rd8b6ce4a0cf44948" /><Relationship Type="http://schemas.openxmlformats.org/officeDocument/2006/relationships/slide" Target="/ppt/slides/slide7.xml" Id="Rab9795a147a641b1" /><Relationship Type="http://schemas.openxmlformats.org/officeDocument/2006/relationships/slide" Target="/ppt/slides/slide8.xml" Id="Rff755f4e54fa4492" /><Relationship Type="http://schemas.openxmlformats.org/officeDocument/2006/relationships/slide" Target="/ppt/slides/slide9.xml" Id="Rfe602c294b534b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4f646ee6b7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8263b25b4b4be1" /><Relationship Type="http://schemas.openxmlformats.org/officeDocument/2006/relationships/notesMaster" Target="/ppt/notesMasters/notesMaster1.xml" Id="Rf0087408c9b04e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5ab49090d4eb2" /><Relationship Type="http://schemas.openxmlformats.org/officeDocument/2006/relationships/notesMaster" Target="/ppt/notesMasters/notesMaster1.xml" Id="R0fd13672ae4b48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cce6b9659942f9" /><Relationship Type="http://schemas.openxmlformats.org/officeDocument/2006/relationships/notesMaster" Target="/ppt/notesMasters/notesMaster1.xml" Id="Rfb270415fae743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e21adbb11c47dd" /><Relationship Type="http://schemas.openxmlformats.org/officeDocument/2006/relationships/notesMaster" Target="/ppt/notesMasters/notesMaster1.xml" Id="R0fc04776d42641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23625c89b34ed6" /><Relationship Type="http://schemas.openxmlformats.org/officeDocument/2006/relationships/notesMaster" Target="/ppt/notesMasters/notesMaster1.xml" Id="R923c7b713de946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c5f868e44149e7" /><Relationship Type="http://schemas.openxmlformats.org/officeDocument/2006/relationships/notesMaster" Target="/ppt/notesMasters/notesMaster1.xml" Id="Ra8af6a3d7c574f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89f19251804b41" /><Relationship Type="http://schemas.openxmlformats.org/officeDocument/2006/relationships/notesMaster" Target="/ppt/notesMasters/notesMaster1.xml" Id="Ra4840463daa949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83a71fb41c4901" /><Relationship Type="http://schemas.openxmlformats.org/officeDocument/2006/relationships/notesMaster" Target="/ppt/notesMasters/notesMaster1.xml" Id="Rffc96feaa22748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fad9efe5674664" /><Relationship Type="http://schemas.openxmlformats.org/officeDocument/2006/relationships/notesMaster" Target="/ppt/notesMasters/notesMaster1.xml" Id="R5fe1406be4b34a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63a17796741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517f8dfd141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7719bbf7946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ff4c0d0da4f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d44b7461d4a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3ce95ddb045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A6FD5E-7235-4F89-A8F7-9EFB95A5D6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A18F73-3778-4E40-9980-0B6992A3C8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71DDE6-2E6D-4057-94D5-433C624DF0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2C60C8-1B33-496A-A492-D44EE00A0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85DC16-D865-4C83-B19E-88F9044257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F82195-FE9C-4A8A-BB4E-554F0C7F7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AC8DAE-0F9B-4829-9315-D9DDC2719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094B84-5436-4D18-8424-B106E1A642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6B5948-42CF-4814-A713-66CD937A6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90803F-1438-4BF6-BC52-73933955D8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d967e3bd7b4260" /><Relationship Type="http://schemas.openxmlformats.org/officeDocument/2006/relationships/slideLayout" Target="/ppt/slideLayouts/slideLayout1.xml" Id="R390cadf949594cc5" /><Relationship Type="http://schemas.openxmlformats.org/officeDocument/2006/relationships/slideLayout" Target="/ppt/slideLayouts/slideLayout2.xml" Id="R78c77f18f4354169" /><Relationship Type="http://schemas.openxmlformats.org/officeDocument/2006/relationships/slideLayout" Target="/ppt/slideLayouts/slideLayout3.xml" Id="R7129d336090f4859" /><Relationship Type="http://schemas.openxmlformats.org/officeDocument/2006/relationships/slideLayout" Target="/ppt/slideLayouts/slideLayout4.xml" Id="Rc289ea3226e94d55" /><Relationship Type="http://schemas.openxmlformats.org/officeDocument/2006/relationships/slideLayout" Target="/ppt/slideLayouts/slideLayout5.xml" Id="R0753d8c9ddf34ad0" /><Relationship Type="http://schemas.openxmlformats.org/officeDocument/2006/relationships/slideLayout" Target="/ppt/slideLayouts/slideLayout6.xml" Id="R01ce90d4b37f46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cadf949594cc5"/>
    <p:sldLayoutId xmlns:r="http://schemas.openxmlformats.org/officeDocument/2006/relationships" id="2147483650" r:id="R78c77f18f4354169"/>
    <p:sldLayoutId xmlns:r="http://schemas.openxmlformats.org/officeDocument/2006/relationships" id="2147483651" r:id="R7129d336090f4859"/>
    <p:sldLayoutId xmlns:r="http://schemas.openxmlformats.org/officeDocument/2006/relationships" id="2147483652" r:id="Rc289ea3226e94d55"/>
    <p:sldLayoutId xmlns:r="http://schemas.openxmlformats.org/officeDocument/2006/relationships" id="2147483653" r:id="R0753d8c9ddf34ad0"/>
    <p:sldLayoutId xmlns:r="http://schemas.openxmlformats.org/officeDocument/2006/relationships" id="2147483654" r:id="R01ce90d4b37f46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9d049a966425c" /><Relationship Type="http://schemas.openxmlformats.org/officeDocument/2006/relationships/image" Target="/ppt/media/image.png" Id="Rb9abd25fdd854efc" /><Relationship Type="http://schemas.openxmlformats.org/officeDocument/2006/relationships/notesSlide" Target="/ppt/notesSlides/notesSlide1.xml" Id="R1f04bf9dfa8545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7162b28c94c3e" /><Relationship Type="http://schemas.openxmlformats.org/officeDocument/2006/relationships/notesSlide" Target="/ppt/notesSlides/notesSlide2.xml" Id="Rca7623eb10634f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09a7006f34de6" /><Relationship Type="http://schemas.openxmlformats.org/officeDocument/2006/relationships/notesSlide" Target="/ppt/notesSlides/notesSlide3.xml" Id="Rc1b703f74e2743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8072dad3a415f" /><Relationship Type="http://schemas.openxmlformats.org/officeDocument/2006/relationships/notesSlide" Target="/ppt/notesSlides/notesSlide4.xml" Id="R9642bebc70e743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3fe5863394243" /><Relationship Type="http://schemas.openxmlformats.org/officeDocument/2006/relationships/notesSlide" Target="/ppt/notesSlides/notesSlide5.xml" Id="Rb3b60501769041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a791edf984174" /><Relationship Type="http://schemas.openxmlformats.org/officeDocument/2006/relationships/notesSlide" Target="/ppt/notesSlides/notesSlide6.xml" Id="R585c9116f60d43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fe8124cdd451d" /><Relationship Type="http://schemas.openxmlformats.org/officeDocument/2006/relationships/notesSlide" Target="/ppt/notesSlides/notesSlide7.xml" Id="R3b0d4b57909b41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f43d4f8da45a6" /><Relationship Type="http://schemas.openxmlformats.org/officeDocument/2006/relationships/notesSlide" Target="/ppt/notesSlides/notesSlide8.xml" Id="R4c1a9ca156a145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585cda525436a" /><Relationship Type="http://schemas.openxmlformats.org/officeDocument/2006/relationships/notesSlide" Target="/ppt/notesSlides/notesSlide9.xml" Id="R3107b09910e943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21D5C-EB74-4423-AA71-DA331FBE5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bd25fdd854efc"/>
          <a:stretch xmlns:a="http://schemas.openxmlformats.org/drawingml/2006/main"/>
        </p:blipFill>
        <p:spPr>
          <a:xfrm xmlns:a="http://schemas.openxmlformats.org/drawingml/2006/main">
            <a:off x="685800" y="5524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19EC1-EBB1-4FEA-A081-9357487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24100"/>
            <a:ext cx="1219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D99F4-29BA-4C11-BD9A-F708417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Pruebas de seguridad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ADP Casino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A664A-D972-4E59-A5C0-A1F2BCD3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Resultados en testing y condición objetivo para producción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8E5CC-4761-436D-AF08-7319236D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14F7A-BA72-47B7-818D-553DE780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536575"/>
                </a:solidFill>
              </a:defRPr>
            </a:pPr>
            <a:r>
              <a:rPr sz="1050">
                <a:solidFill>
                  <a:srgbClr val="536575"/>
                </a:solidFill>
              </a:rPr>
              <a:t>Presentación ejecutiva y técnica | 16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289932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E794F-10F8-4CFD-B9EA-55D64D7C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4E0B0-1FEC-46F4-8A3F-CEB093EB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Estado de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4868B-2E43-4112-8F31-DB9E1AC1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0D2B4-08EA-4433-8CB7-30D1D619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58FAE-F0D8-4FDC-8B43-7936D53C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Estado actual de 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83411-1429-4C48-8BD8-FAAEB27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La aplicación mejoró materialmente, pero todavía requiere cierre operativo antes de producción.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546CC-21EC-4065-A27D-E55DEF61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8E7D7-5E2E-4A00-9767-994403D2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36575"/>
                </a:solidFill>
              </a:defRPr>
            </a:pPr>
            <a:r>
              <a:rPr sz="825" b="1">
                <a:solidFill>
                  <a:srgbClr val="536575"/>
                </a:solidFill>
              </a:rPr>
              <a:t>DEPENDENCIAS 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1D286-D411-458A-AD11-96716A8C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98754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98754"/>
                </a:solidFill>
              </a:defRPr>
            </a:pPr>
            <a:r>
              <a:rPr sz="2100" b="1">
                <a:solidFill>
                  <a:srgbClr val="198754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F2BC1-2670-4734-877B-F95CD21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0 críticas | 8 altas | 2 moderadas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DD336-C8EE-45D6-9C1F-442BDF8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5EB2E-3D29-4AA7-812A-E502D865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36575"/>
                </a:solidFill>
              </a:defRPr>
            </a:pPr>
            <a:r>
              <a:rPr sz="825" b="1">
                <a:solidFill>
                  <a:srgbClr val="536575"/>
                </a:solidFill>
              </a:rPr>
              <a:t>DEPENDENCIAS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7773A-89A5-4C2D-B653-B4D917E4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98754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98754"/>
                </a:solidFill>
              </a:defRPr>
            </a:pPr>
            <a:r>
              <a:rPr sz="2100" b="1">
                <a:solidFill>
                  <a:srgbClr val="198754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5E487-80D0-48E5-981F-AC2EB338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432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vulnerabilidades informadas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84770-0C0C-4DB7-808F-D2464197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117EE-FF3F-49F9-BF2F-7C2BDCF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36575"/>
                </a:solidFill>
              </a:defRPr>
            </a:pPr>
            <a:r>
              <a:rPr sz="825" b="1">
                <a:solidFill>
                  <a:srgbClr val="536575"/>
                </a:solidFill>
              </a:rPr>
              <a:t>PRUEBAS DE REGLAS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45ED1-3FCE-474B-B44F-35FE389A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717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98754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98754"/>
                </a:solidFill>
              </a:defRPr>
            </a:pPr>
            <a:r>
              <a:rPr sz="2100" b="1">
                <a:solidFill>
                  <a:srgbClr val="198754"/>
                </a:solidFill>
              </a:rPr>
              <a:t>36/36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FC10F-F5A6-4301-8962-579C5A50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suite Node correcta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8041C-85FC-49DA-B080-2DA6E5C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05815-486E-4F04-996F-95F06D4F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36575"/>
                </a:solidFill>
              </a:defRPr>
            </a:pPr>
            <a:r>
              <a:rPr sz="825" b="1">
                <a:solidFill>
                  <a:srgbClr val="536575"/>
                </a:solidFill>
              </a:rPr>
              <a:t>SMOKE DE SEGURIDAD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94184-3DBD-4973-9C87-78D51284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717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98754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98754"/>
                </a:solidFill>
              </a:defRPr>
            </a:pPr>
            <a:r>
              <a:rPr sz="2100" b="1">
                <a:solidFill>
                  <a:srgbClr val="198754"/>
                </a:solidFill>
              </a:rPr>
              <a:t>5/5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9BAE0-F0F1-4B7E-BFB8-002B9D90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controles HTTP y rutas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A2B05-6482-450E-B3CD-2B78210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01008-14FB-46A8-BC84-3A982FCB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Lectura ejecutiva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F0E80-927B-4053-8178-DEF2362F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263746"/>
                </a:solidFill>
              </a:defRPr>
            </a:pPr>
            <a:r>
              <a:rPr sz="1350">
                <a:solidFill>
                  <a:srgbClr val="263746"/>
                </a:solidFill>
              </a:rPr>
              <a:t>El endurecimiento eliminó las vulnerabilidades críticas reportadas y mantuvo la funcionalidad de Casino, Personas, sesiones, permisos y menú. Los principales bloqueadores restantes son secretos expuestos que deben rotarse, SQL/TLS, auditoría persistente, MFA administrativo y verificación de base.</a:t>
            </a:r>
          </a:p>
        </p:txBody>
      </p:sp>
    </p:spTree>
    <p:extLst>
      <p:ext uri="{BB962C8B-B14F-4D97-AF65-F5344CB8AC3E}">
        <p14:creationId xmlns:p14="http://schemas.microsoft.com/office/powerpoint/2010/main" val="5792526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497188-AE4F-43E2-B263-8DDBE8EA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E7AE9-5DBE-41AE-BE98-BF990820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Pruebas realizadas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4D21B-B282-4B44-B547-8A3BF425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6A119-CC6D-4FF9-8B52-C3546BE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2371A-C3DC-4076-9305-3BC80A6E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Evidencia de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7BFEB-B255-43C9-9D6A-A35175FA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Controles ejecutados en el repositorio y en el entorno local de validación.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39C28-6C80-48EB-9D7B-67D45037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049CF-2A84-419D-B42B-A9FF2853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Prueba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94A55-B3F2-44CD-89D9-544DE3E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9958F-453B-4EBB-94E4-889F658D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A7A49-1899-4491-9FF6-3456B1E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0500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31C64-8B2D-46C2-9C85-98A42D8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615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E3D29-EA39-409D-B758-60E72449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93B1F-30BD-4E64-B1F9-D51E3F8B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Suite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878B3-3A5E-4531-AABF-D02F8C89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02385-9BCF-4F53-9738-882D818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36 correctas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4992C-74E5-4E32-80E4-5189EEC6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FCD68-0138-471B-A67A-07DEEDB1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615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node --test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ABDD0-E356-487D-A6C2-88EE461D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226EF-BF87-4C39-BA4B-4D5EA2F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Smoke HTTP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ED718-F6BB-45F9-897C-5F9621D5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99DFD-B592-4C15-8277-55A2F7E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5 correctas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0166C-EDD8-4C35-A202-63ECC28A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7C775-8C22-4298-AA07-AD4CBFF1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615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headers, CORS, límites, 429, ruta retirada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05C44-D751-4C22-821D-F1756999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471E9-79FC-419C-9862-85C6F87E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Gate de dependencias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972FA-E893-4ED5-B021-0D0B531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F4F24-67BA-4DCB-806A-5DB536AD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Correcto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6871D-84A6-4F60-9196-8170799D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805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1EFC33-EFF8-4475-A6FA-E9D51EC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43300"/>
            <a:ext cx="615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sin críticas de producción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0F926-CE7A-4D78-9EFC-58C61A88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1B525F-A54D-436F-8D7A-6B27CE18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125AA3-AE77-49C1-879D-F02A241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62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288FE6-6AAD-4653-95F4-B437DF10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57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Correcto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3D6C9F-C929-4BBA-80CB-6B41B43E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6240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55D20-E49B-42FB-BE65-CC61F66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57650"/>
            <a:ext cx="615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ESLint, build Vite, 0 audit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D89718-E2A7-4696-9140-8554B61C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1BEBCA-44E8-4E26-A684-8A645A94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Verificación Casino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B26CC9-3421-4B96-BEC1-B5FFF2AF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76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3D61B7-BCF3-4A0A-8952-F88815C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72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Pendiente de corregir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11CC44-E02F-4540-90A4-2AB34EEE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6343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95B91B-6DDF-4659-8C43-40B77ECF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615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esperaba 15 pedidos y encontró 23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F16FF6-AB47-465E-B466-F212D81F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9FC34E-ACD8-4813-ABDC-71320C27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Qué demuestran estas pruebas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2A931E-3CD5-4FA4-AC8E-D9EEC33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La funcionalidad principal responde con controles HTTP reforzados.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EDECB6-0E42-4860-A875-E037B49D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El frontend no publica source maps ni dependencias vulnerables informadas.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149BA5-6003-46D8-AD25-9D72D96A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La verificación de base aún necesita una ejecución reproducible contra el ambiente candidato.</a:t>
            </a:r>
          </a:p>
        </p:txBody>
      </p:sp>
    </p:spTree>
    <p:extLst>
      <p:ext uri="{BB962C8B-B14F-4D97-AF65-F5344CB8AC3E}">
        <p14:creationId xmlns:p14="http://schemas.microsoft.com/office/powerpoint/2010/main" val="3096999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91789-29E2-46E3-A0C9-787F15C1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61455-A6EB-4D2F-98D7-EDF2EE96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Controles implementados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14ABC-CEC8-4DD0-B2B8-8DEDCB7A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F9C9B-EECC-442A-9406-D936D1A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1DA36-609D-4F0D-B797-01D3D7B6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Qué quedó implementado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61658-F6E1-4030-92A7-6278C8FD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Cambios compatibles con la funcionalidad existente.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BC905-581F-43AE-AA94-C1495D80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4E5DE-AC9E-4902-A74E-684DC84B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006D4-E67E-4A43-958C-2001E34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Aplicación y 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2AA89-B064-418F-B795-2D7D01B6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549F"/>
                </a:solidFill>
              </a:defRPr>
            </a:pPr>
            <a:r>
              <a:rPr sz="1575" b="1">
                <a:solidFill>
                  <a:srgbClr val="00549F"/>
                </a:solidFill>
              </a:rPr>
              <a:t>HTTP y exposición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8B44D-6C0C-499C-A936-2662ADEF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Secretos fuera del código actual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4700B-84E6-4EFA-8CD2-E121304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Docker endurecido y usuario node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38CA9-1509-461F-97C3-49BB4909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Source maps solo fuera de producción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8E937-14E9-4EF5-859F-85AF5A2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CSP, HSTS, no-store y Permissions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6A37A-33E2-4D5D-ABDD-D931B838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Límites de JSON, formularios y parámetros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2B4F1-3B8F-43B8-92E5-5DD1C319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Rate limit de login por 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A4B83-1BD4-4031-80F2-390353C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CORS rechazado con 403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94E98-8F20-4BA4-B2C1-958DE871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Errores homogéneos sin stack al cliente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E3208-7B61-47A2-B06D-273C9B0F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Ruta técnica pública retirada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C776B-E7BD-479A-81AE-1D9C0C2C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263746"/>
                </a:solidFill>
              </a:defRPr>
            </a:pPr>
            <a:r>
              <a:rPr sz="1275">
                <a:solidFill>
                  <a:srgbClr val="263746"/>
                </a:solidFill>
              </a:rPr>
              <a:t>-  Cookie HttpOnly, SameSite=Lax y Secure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9ACB8-68AF-49BC-9852-A2212708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La autorización sigue dependiendo del contexto de sesión, empresa y permisos backend; ocultar botones en React no es una medida de seguridad.</a:t>
            </a:r>
          </a:p>
        </p:txBody>
      </p:sp>
    </p:spTree>
    <p:extLst>
      <p:ext uri="{BB962C8B-B14F-4D97-AF65-F5344CB8AC3E}">
        <p14:creationId xmlns:p14="http://schemas.microsoft.com/office/powerpoint/2010/main" val="12071434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E321BA-6C33-479A-B97C-3AC262C9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DD35C-782B-4528-AB94-DBD5FB8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Marco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1DAA5-8639-4E3E-BC28-AC7A08CD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3BABD-9DE4-4F4E-9147-06E56BB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817C7-1C50-4724-83AB-70DBE9A3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Criterio OWASP para la salida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56F5-41F2-4923-90E5-45CDFB8D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La preparación objetivo se alinea con OWASP ASVS 5.0 nivel 2 y OWASP API Security Top 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26F93-321E-424B-AA03-AC4437E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5211E-A182-4C51-ABB7-68158A52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Área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FA5DF-D158-420B-A869-7592DC6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097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0E536-53BB-4B52-8304-990A0AB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050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Estado en testing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5A1B2-00B7-4170-9F83-5D9CECA0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0975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4A133-B5F6-4392-9FB2-04E63F3F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905000"/>
            <a:ext cx="545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Condición objetivo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59C93-1AF0-462F-85B1-D443606F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BC8B3-C539-48FC-A983-CB1F721A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Autenticación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67E0F-BC42-4C80-92F0-01FBD6F7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622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90F2C-9F9F-43B8-897C-C224B26A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457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bcrypt moderno con fallback legado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7F8F8-6038-479B-972A-AD4C9A7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6220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ED07F-83A4-47F2-8566-15DEDA6F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57450"/>
            <a:ext cx="545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sin claves recuperables, hash versionado y MFA administrativo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8F6AC-8181-4F7E-9E77-9B2F2E30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B9743-BB59-4A5D-B077-A9F538C6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Sesiones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F60EF-3F58-4C19-AE12-15AEF9CD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9146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C2DDE-1E8B-48DC-9C1A-6F55C795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099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cookie protegida y expiración absoluta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0C650-6F60-41A9-9908-5AF957B5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1465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949F8-6CE5-4E81-95FC-2462FB42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09900"/>
            <a:ext cx="545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revocación por eventos, CSRF formal y pruebas concurrentes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EC7E5-04C1-40F0-97A0-FE2EAB97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8C4DA-C768-4CEB-A320-C9BB338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Autorización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6C9A9-A5B0-4590-A2BA-F69A20D3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671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90FF9-A2C3-41C9-AB2E-D25EC96F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623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permisos y contexto multiempresa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EE4E2-731A-48C7-A83B-99401CA5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6710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49828-62A8-4F32-A1B1-594B8B1B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62350"/>
            <a:ext cx="545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matriz negativa completa y pruebas IDOR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733C8-F2FC-4E2F-B02C-51220735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D2831A-798A-4E5C-8742-7466C057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16747-EED7-41AA-A7B5-D3E8D037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195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667A70-2493-481D-8763-EE7261A1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148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CORS, límites, headers y rate limit inicial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EB9688-8C8D-4DB9-BA71-BA4F49F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1955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284512-C261-4A8A-A358-C38BD887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114800"/>
            <a:ext cx="545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protección por flujo y rate limit distribuido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9ED55-622E-42CB-BD8A-D90A959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26A3C4-C652-4B0A-B604-985EBD27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Secretos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596633-3CFC-4E0C-A1C2-A9830CEA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7200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C78D84-D466-45A0-BF43-A3F5E3C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67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retirados del código actual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3E6296-C533-42FB-9534-B7FD7EB7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7200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6BA69D-E0CD-4D9A-A05A-07BB09FA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667250"/>
            <a:ext cx="545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rotación, gestor seguro y evidencia de revocación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3E6719-BEA0-42B6-BF9A-8082D87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9F79F0-A315-418C-95FA-8D30E734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Logging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B7A502-4DF2-4B42-9313-1BF15B5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1244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282E42-5555-42B4-BD08-B9C5E6D2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197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logs técnicos parciales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A7B88A-F8A3-454D-AC28-D2C5A4E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12445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E6343E-BFAC-4AA2-AC78-DAB882BA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219700"/>
            <a:ext cx="545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auditoría de accesos, permisos y datos sensibles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9C739E-24DF-4AED-8096-A4961627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71FA34-9DDF-4A47-A729-1B72666E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Principio de aceptación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D28653-5118-46EA-83EB-BC204B3F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816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No basta con que npm audit quede limpio: la aprobación debe combinar código, configuración, infraestructura, evidencia de pruebas y aceptación formal del riesgo residual.</a:t>
            </a:r>
          </a:p>
        </p:txBody>
      </p:sp>
    </p:spTree>
    <p:extLst>
      <p:ext uri="{BB962C8B-B14F-4D97-AF65-F5344CB8AC3E}">
        <p14:creationId xmlns:p14="http://schemas.microsoft.com/office/powerpoint/2010/main" val="20694237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FCE57-0B0A-45EE-8C16-09DA4080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69CC0-BEFB-4CF0-8B9C-417EC4F9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Preparación productiva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67407-B818-4481-987E-0A2863CA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A3203-435A-4179-B87E-0DB8E492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A8CBF-8F6F-4E62-8CB0-4B58C3E7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Bloqueadores antes de producción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71722-67B4-420A-A6AA-CB48C41C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P0: cierre obligatorio. P1: requerido para una evaluación técnica defendible.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6CA78-EB68-4407-9093-9D7B204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15377-3402-4351-8722-D1D4865F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1F197-9C56-4C64-B37C-06334A37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26A00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26A00"/>
                </a:solidFill>
              </a:defRPr>
            </a:pPr>
            <a:r>
              <a:rPr sz="1650" b="1">
                <a:solidFill>
                  <a:srgbClr val="B26A00"/>
                </a:solidFill>
              </a:rPr>
              <a:t>P0 | Obligatorios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4C6A2-276D-4418-8334-2827EC72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Rotar API key y credencial SQL publicadas.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59780-6AE4-493F-9560-118B5DB2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Revocar valores anteriores y revisar uso.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4C82B-7DCB-4B6B-AC43-D764B7B8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Crear identidad SQL sin sa y con mínimo privilegio.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D3873-FB96-427D-9A3E-BE90200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Configurar TLS validado hacia SQL Server.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DC0A4-1CE3-4E8C-A9C4-FE8CF39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Construir y escanear imagen final sin secretos.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D0BAA-042E-46FA-A701-C14D45AE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4231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P1 | Ethical hacking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D59FB-EC1B-40B4-8E2F-32C5D2ED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Auditoría persistente de login, permisos y cambios.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92B49-897A-49E2-BDD3-7E3F1E07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MFA para ADMINFULL y cuentas de emergencia.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15C1E-19FD-4CB7-BA2A-145F146F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04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Pruebas de IDOR multiempresa y multi-Casino.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B9206-1B08-4983-B284-5C67372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CSRF formal en todas las mutaciones.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41F2C-14DA-425D-8DEC-EF8053E8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291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-  Rate limit distribuido si existe más de una instancia.</a:t>
            </a:r>
          </a:p>
        </p:txBody>
      </p:sp>
    </p:spTree>
    <p:extLst>
      <p:ext uri="{BB962C8B-B14F-4D97-AF65-F5344CB8AC3E}">
        <p14:creationId xmlns:p14="http://schemas.microsoft.com/office/powerpoint/2010/main" val="1550142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BADF1-D11B-41C1-B478-B44C15B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CB8D5-7D6A-479D-8B1F-53FD962D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Alcance de pruebas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0C66A-0643-40FC-BFDD-57D476B0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7BB0C-4099-42C5-93F0-E2DD6555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67AB7-5140-494B-B3EB-31415732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Alcance de un posible technical hacking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8CD8A-8894-4810-9FC8-5A55240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Pruebas autorizadas, controladas y con evidencia reproducible para el ambiente candidato.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520E3-9FE0-458D-A4CE-61E422E9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1C427-FD85-4FB7-84AD-45092B8C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Identidad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708CA-02F7-4BBE-A077-7796ECF2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enumeración, fuerza bruta, spraying, stuffing, recuperación y sesiones concurrentes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1A03E-3352-4549-A2F7-18508E2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688E9-FE94-4CF8-89A5-9AEE3C7B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IDOR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83A8E-9621-42C2-8233-5916DD06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EmpCod, GECODEMP, RUT, Casino, pedidos, programas, roles y acciones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1F033-64FA-42DF-9CCC-C137287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F4808-9F41-489D-9C6A-E4BCEB0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Negocio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50859-2DFB-4954-9B91-71B9C2F3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precios, productos, estados, correlativos, cantidades, carreras y 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A67A8-4536-4135-B29E-D82C0DCD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49530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914D4-0066-40ED-8C31-D6D8B50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549F"/>
                </a:solidFill>
              </a:defRPr>
            </a:pPr>
            <a:r>
              <a:rPr sz="1500" b="1">
                <a:solidFill>
                  <a:srgbClr val="00549F"/>
                </a:solidFill>
              </a:rPr>
              <a:t>API e infraestructura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D2B54-98CF-4992-897B-1DAC8B6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263746"/>
                </a:solidFill>
              </a:defRPr>
            </a:pPr>
            <a:r>
              <a:rPr sz="1200">
                <a:solidFill>
                  <a:srgbClr val="263746"/>
                </a:solidFill>
              </a:rPr>
              <a:t>SQLi, XSS, SSRF, payloads, TLS, proxy, privilegios, imagen y dependencias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CBFE8-4555-43EE-867F-D8363C05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El equipo externo debe recibir alcance, cuentas de prueba, ventanas de ejecución, contacto de emergencia y criterios de severidad antes de comenzar.</a:t>
            </a:r>
          </a:p>
        </p:txBody>
      </p:sp>
    </p:spTree>
    <p:extLst>
      <p:ext uri="{BB962C8B-B14F-4D97-AF65-F5344CB8AC3E}">
        <p14:creationId xmlns:p14="http://schemas.microsoft.com/office/powerpoint/2010/main" val="7437613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46093A-3F47-4C4E-8BA5-074F2A5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F1EA9-78FB-40EE-8680-875218BF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Criterios de aprobación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78A00-AF54-4335-A480-FD31D8B6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B8619-769C-4023-B200-DEC3B77D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AC995-6237-45A9-BDB3-2C71BD4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Cómo debería quedar para producción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0A376-66FF-4E39-B66A-9FC13544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La salida se aprueba por evidencia, no solo por ausencia de alertas en npm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3EFA1-C45E-44BC-86A5-BC037771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6781C-6DF4-4513-8F1D-0B586A7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C572C-058F-4013-B715-188A0852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B03A9-0289-41BD-AD7A-32CF528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050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Criterio mínimo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C0737-4CA9-4F29-A215-9E4003DF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CCF20-3DEB-4B62-A40C-602B5FA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Secretos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CBE4A-E62C-412F-B745-0B5186A8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0838F-8F0D-44A4-99AB-F48EA26B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activos nuevos, anteriores revocados y sin valores publicados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1A652-D14E-439C-9762-3F7129CC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F5C9C-220F-4442-9227-FB467577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Dependencias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2ABBA-D268-46F3-9797-6C2C0548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03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8C342-E716-4290-86F9-E26FCEF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sin críticas o aceptación formal documentada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D87AA-9ACB-4C59-B16D-DD21174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EEE89-B0BC-4E8D-BB98-32D8AE5B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Pruebas 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4DF83-5664-4194-839E-D3D34CB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956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D38CA-DD61-433F-AD1E-940B87A1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suite completa correcta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ABA97-C69E-4BA4-9ABB-942C1811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2D30D-E24A-43B9-9C43-94642BD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Base de datos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765AB-7FC8-43F6-8EDB-8D59E264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64810-BFD4-48FC-8566-C5972B5A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862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verify:casino correcto en ambiente candidato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87375-E59B-44E1-BBC2-3AAD137A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CA1F9-A772-4340-9003-DA0C293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UAT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4B360-4C13-465E-AF72-61DBA1E0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218C86-5F5D-4896-BF62-0420609D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aceptación por roles y Casinos representativos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3FF11-E24C-4284-8450-4958326C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BD58F-E207-46FC-97FC-8096C6A8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Imagen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D46EF2-2CFD-4F63-8030-155B1C20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2DAFD4-CC86-47B0-A2E4-09054406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768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escaneo sin críticos, sin secretos y ejecución no privilegiada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81F688-ACB0-4E76-8E77-F41ABDF9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FEF8F1-FA7D-40A7-9180-38D5B074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Pentest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DCF68B-5DD7-48DE-8170-E2A193A6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76850"/>
            <a:ext cx="8553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1420E-E238-4019-8784-B8C46267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7210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263746"/>
                </a:solidFill>
              </a:defRPr>
            </a:pPr>
            <a:r>
              <a:rPr sz="975" b="0">
                <a:solidFill>
                  <a:srgbClr val="263746"/>
                </a:solidFill>
              </a:rPr>
              <a:t>informe, remediación y re-test de hallazgos altos/críticos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505BF0-1A83-48AE-B789-4EC3F355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B6DC8D-574F-43A7-A532-5131A7FC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CFDB29-EC6E-4F99-BD36-78A794E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Salida sugerida: sin críticos abiertos, altos corregidos o aceptados formalmente, secretos rotados, UAT y recuperación comprobadas, y re-test cerrado.</a:t>
            </a:r>
          </a:p>
        </p:txBody>
      </p:sp>
    </p:spTree>
    <p:extLst>
      <p:ext uri="{BB962C8B-B14F-4D97-AF65-F5344CB8AC3E}">
        <p14:creationId xmlns:p14="http://schemas.microsoft.com/office/powerpoint/2010/main" val="13323501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8E0363-D323-4AAC-B7E1-A0510261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0549F"/>
                </a:solidFill>
              </a:defRPr>
            </a:pPr>
            <a:r>
              <a:rPr sz="900" b="1">
                <a:solidFill>
                  <a:srgbClr val="00549F"/>
                </a:solidFill>
              </a:rPr>
              <a:t>ADP CASINO |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DD428-ADC7-4130-9EC4-A647A574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900">
                <a:solidFill>
                  <a:srgbClr val="536575"/>
                </a:solidFill>
              </a:defRPr>
            </a:pPr>
            <a:r>
              <a:rPr sz="900">
                <a:solidFill>
                  <a:srgbClr val="536575"/>
                </a:solidFill>
              </a:rPr>
              <a:t>Próximos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4FAA0-64BF-4805-81E4-3C6A28B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49921-A082-49C1-9F7D-2E85F53B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960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750">
                <a:solidFill>
                  <a:srgbClr val="536575"/>
                </a:solidFill>
              </a:defRPr>
            </a:pPr>
            <a:r>
              <a:rPr sz="750">
                <a:solidFill>
                  <a:srgbClr val="536575"/>
                </a:solidFill>
              </a:rPr>
              <a:t>16 OCT 2026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55F2B-2FE6-4B46-B98B-A5B28106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549F"/>
                </a:solidFill>
              </a:defRPr>
            </a:pPr>
            <a:r>
              <a:rPr sz="2400" b="1">
                <a:solidFill>
                  <a:srgbClr val="00549F"/>
                </a:solidFill>
              </a:rPr>
              <a:t>Ruta recomendada hacia aprobación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6E8A6-9214-4457-8ED0-A8FF6048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36575"/>
                </a:solidFill>
              </a:defRPr>
            </a:pPr>
            <a:r>
              <a:rPr sz="1200">
                <a:solidFill>
                  <a:srgbClr val="536575"/>
                </a:solidFill>
              </a:rPr>
              <a:t>Ordena el trabajo por riesgo y deja trazabilidad para el equipo técnico y auditoría.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344A3-6166-4042-A200-2C03B02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77E1F-BAE2-4A06-BA8B-C2247549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549F"/>
                </a:solidFill>
              </a:defRPr>
            </a:pPr>
            <a:r>
              <a:rPr sz="2250" b="1">
                <a:solidFill>
                  <a:srgbClr val="00549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9EF95-AA18-4191-BEC0-0C63F25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Cerrar 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84C6A-47B6-4898-8AE8-5E62DC3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263746"/>
                </a:solidFill>
              </a:defRPr>
            </a:pPr>
            <a:r>
              <a:rPr sz="1125">
                <a:solidFill>
                  <a:srgbClr val="263746"/>
                </a:solidFill>
              </a:rPr>
              <a:t>rotación, revocación, SQL mínimo privilegio y TLS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E0909-04D9-4B93-AB8B-14A8D4B4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DB7D5-894A-499F-998E-DDD1A51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549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549F"/>
                </a:solidFill>
              </a:defRPr>
            </a:pPr>
            <a:r>
              <a:rPr sz="2250" b="1">
                <a:solidFill>
                  <a:srgbClr val="00549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34E3B-02A4-4677-BB50-A6C287D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Validar ambiente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17524-87F8-4866-9FF6-E670F155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861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263746"/>
                </a:solidFill>
              </a:defRPr>
            </a:pPr>
            <a:r>
              <a:rPr sz="1125">
                <a:solidFill>
                  <a:srgbClr val="263746"/>
                </a:solidFill>
              </a:rPr>
              <a:t>verify:casino, build, imagen, configuración y UAT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8CD10-8ED3-4348-9E91-B8369CBB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5D281-6B62-4C44-B22E-BDBFEDF3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26A00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26A00"/>
                </a:solidFill>
              </a:defRPr>
            </a:pPr>
            <a:r>
              <a:rPr sz="2250" b="1">
                <a:solidFill>
                  <a:srgbClr val="B26A0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8301F-6D13-4849-8C94-A3F2E61D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Completar 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21E84-8C1E-47B0-85B7-B3ECD8E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263746"/>
                </a:solidFill>
              </a:defRPr>
            </a:pPr>
            <a:r>
              <a:rPr sz="1125">
                <a:solidFill>
                  <a:srgbClr val="263746"/>
                </a:solidFill>
              </a:rPr>
              <a:t>auditoría, MFA, CSRF, IDOR y rate limit distribuido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C4D40-32EC-48D3-92EB-B5B3918C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7D2C4-DD27-4C63-8351-47BA3858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98754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98754"/>
                </a:solidFill>
              </a:defRPr>
            </a:pPr>
            <a:r>
              <a:rPr sz="2250" b="1">
                <a:solidFill>
                  <a:srgbClr val="198754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C0DCE-6B2F-4C7B-B49A-A084DC4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Technical hacking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8C416-AAD0-4FFF-BD85-B1E1C575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263746"/>
                </a:solidFill>
              </a:defRPr>
            </a:pPr>
            <a:r>
              <a:rPr sz="1125">
                <a:solidFill>
                  <a:srgbClr val="263746"/>
                </a:solidFill>
              </a:rPr>
              <a:t>ejecución autorizada, informe, remediación y re-test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BCD17-9CB0-4CFE-B5B0-CEE3B665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63A5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A59"/>
                </a:solidFill>
              </a:defRPr>
            </a:pPr>
            <a:r>
              <a:rPr sz="1500" b="1">
                <a:solidFill>
                  <a:srgbClr val="163A59"/>
                </a:solidFill>
              </a:rPr>
              <a:t>Mensaje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00D83-669E-4529-ACDC-77E92B17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673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263746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263746"/>
                </a:solidFill>
              </a:defRPr>
            </a:pPr>
            <a:r>
              <a:rPr sz="1350">
                <a:solidFill>
                  <a:srgbClr val="263746"/>
                </a:solidFill>
              </a:rPr>
              <a:t>El sistema está en una posición de testing fortalecida. La condición productiva exige cerrar los bloqueadores P0, producir evidencia operativa y someter el alcance acordado a una evaluación externa autorizada.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E8B17-FCC0-46DF-8B2F-6C23B0CB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36575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36575"/>
                </a:solidFill>
              </a:defRPr>
            </a:pPr>
            <a:r>
              <a:rPr sz="825">
                <a:solidFill>
                  <a:srgbClr val="536575"/>
                </a:solidFill>
              </a:rPr>
              <a:t>Fuentes: reportes internos de seguridad ADP Casino, OWASP ASVS 5.0, OWASP API Security Top 10 y OWASP Cheat Sheets.</a:t>
            </a:r>
          </a:p>
        </p:txBody>
      </p:sp>
    </p:spTree>
    <p:extLst>
      <p:ext uri="{BB962C8B-B14F-4D97-AF65-F5344CB8AC3E}">
        <p14:creationId xmlns:p14="http://schemas.microsoft.com/office/powerpoint/2010/main" val="1157824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2026-10-16T13:16:22.7800000Z</dcterms:created>
  <dcterms:modified xsi:type="dcterms:W3CDTF">2026-10-16T13:16:22.7800000Z</dcterms:modified>
</coreProperties>
</file>